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Referrals</c:v>
          </c:tx>
          <c:spPr>
            <a:solidFill>
              <a:srgbClr val="148B9C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A7B7BC"/>
              </a:solidFill>
            </c:spPr>
            <c:extLst>
              <c:ext xmlns:c16="http://schemas.microsoft.com/office/drawing/2014/chart" uri="{C3380CC4-5D6E-409C-BE32-E72D297353CC}">
                <c16:uniqueId val="{00000001-7815-4BF5-81ED-F56E9E108A38}"/>
              </c:ext>
            </c:extLst>
          </c:dPt>
          <c:dLbls>
            <c:delete val="1"/>
          </c:dLbls>
          <c:cat>
            <c:strLit>
              <c:ptCount val="2"/>
              <c:pt idx="0">
                <c:v>Total referrals</c:v>
              </c:pt>
              <c:pt idx="1">
                <c:v>Referral target</c:v>
              </c:pt>
            </c:strLit>
          </c:cat>
          <c:val>
            <c:numLit>
              <c:formatCode>#,##0</c:formatCode>
              <c:ptCount val="2"/>
              <c:pt idx="0">
                <c:v>6000</c:v>
              </c:pt>
              <c:pt idx="1">
                <c:v>6504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815-4BF5-81ED-F56E9E108A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#,##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v>Referral status</c:v>
          </c:tx>
          <c:dPt>
            <c:idx val="0"/>
            <c:bubble3D val="0"/>
            <c:spPr>
              <a:solidFill>
                <a:srgbClr val="2F8065"/>
              </a:solidFill>
            </c:spPr>
            <c:extLst>
              <c:ext xmlns:c16="http://schemas.microsoft.com/office/drawing/2014/chart" uri="{C3380CC4-5D6E-409C-BE32-E72D297353CC}">
                <c16:uniqueId val="{00000001-34D5-4224-9554-5959CC2E4496}"/>
              </c:ext>
            </c:extLst>
          </c:dPt>
          <c:dPt>
            <c:idx val="1"/>
            <c:bubble3D val="0"/>
            <c:spPr>
              <a:solidFill>
                <a:srgbClr val="C5D5D9"/>
              </a:solidFill>
            </c:spPr>
            <c:extLst>
              <c:ext xmlns:c16="http://schemas.microsoft.com/office/drawing/2014/chart" uri="{C3380CC4-5D6E-409C-BE32-E72D297353CC}">
                <c16:uniqueId val="{00000003-34D5-4224-9554-5959CC2E4496}"/>
              </c:ext>
            </c:extLst>
          </c:dPt>
          <c:dLbls>
            <c:delete val="1"/>
          </c:dLbls>
          <c:cat>
            <c:strLit>
              <c:ptCount val="2"/>
              <c:pt idx="0">
                <c:v>Completed</c:v>
              </c:pt>
              <c:pt idx="1">
                <c:v>Other statuses</c:v>
              </c:pt>
            </c:strLit>
          </c:cat>
          <c:val>
            <c:numLit>
              <c:formatCode>#,##0</c:formatCode>
              <c:ptCount val="2"/>
              <c:pt idx="0">
                <c:v>4292</c:v>
              </c:pt>
              <c:pt idx="1">
                <c:v>1708</c:v>
              </c:pt>
            </c:numLit>
          </c:val>
          <c:extLst>
            <c:ext xmlns:c16="http://schemas.microsoft.com/office/drawing/2014/chart" uri="{C3380CC4-5D6E-409C-BE32-E72D297353CC}">
              <c16:uniqueId val="{00000004-34D5-4224-9554-5959CC2E4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4"/>
      </c:doughnutChart>
    </c:plotArea>
    <c:legend>
      <c:legendPos val="b"/>
      <c:overlay val="0"/>
      <c:txPr>
        <a:bodyPr anchorCtr="1"/>
        <a:lstStyle/>
        <a:p>
          <a:pPr>
            <a:defRPr sz="1650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45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10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1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480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Healthcare sales</a:t>
            </a:r>
          </a:p>
          <a:p>
            <a:pPr>
              <a:defRPr sz="480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480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96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Operations leadership briefing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2714625"/>
            <a:ext cx="99060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0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250" b="0">
                <a:solidFill>
                  <a:srgbClr val="148B9C"/>
                </a:solidFill>
                <a:latin typeface="Arial"/>
                <a:ea typeface="Arial"/>
                <a:cs typeface="Arial"/>
              </a:rPr>
              <a:t>Referral, follow-up </a:t>
            </a:r>
            <a:r>
              <a:rPr sz="2250" b="0">
                <a:solidFill>
                  <a:srgbClr val="148B9C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2250" b="0">
                <a:solidFill>
                  <a:srgbClr val="148B9C"/>
                </a:solidFill>
                <a:latin typeface="Arial"/>
                <a:ea typeface="Arial"/>
                <a:cs typeface="Arial"/>
              </a:rPr>
              <a:t>activity performance</a:t>
            </a:r>
            <a:endParaRPr sz="2250" b="0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4276725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Operational questions for leadership</a:t>
            </a:r>
            <a:endParaRPr sz="1875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28650" y="4886325"/>
            <a:ext cx="99060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Identify performance gaps</a:t>
            </a:r>
            <a:r>
              <a:rPr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monitor follow-through </a:t>
            </a:r>
            <a:r>
              <a:rPr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focus attention</a:t>
            </a:r>
          </a:p>
          <a:p>
            <a:pPr>
              <a:defRPr sz="180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on territories or workflow stages needing intervention</a:t>
            </a:r>
            <a:r>
              <a:rPr sz="18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6,000 referrals against a 6,504 target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2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Chart" descr="Chart"/>
          <p:cNvGraphicFramePr/>
          <p:nvPr>
            <p:extLst>
              <p:ext uri="{D42A27DB-BD31-4B8C-83A1-F6EECF244321}">
                <p14:modId xmlns:p14="http://schemas.microsoft.com/office/powerpoint/2010/main" val="3363036485"/>
              </p:ext>
            </p:extLst>
          </p:nvPr>
        </p:nvGraphicFramePr>
        <p:xfrm>
          <a:off x="609600" y="1762125"/>
          <a:ext cx="6810375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1628775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92.3%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2-0005-4000-8000-000000000000}"/>
              </a:ext>
            </a:extLst>
          </p:cNvPr>
          <p:cNvSpPr>
            <a:spLocks noGrp="1"/>
          </p:cNvSpPr>
          <p:nvPr/>
        </p:nvSpPr>
        <p:spPr>
          <a:xfrm>
            <a:off x="8058150" y="254317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target attainment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2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020050" y="3514725"/>
            <a:ext cx="3333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250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504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2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058150" y="44291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referrals below target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2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724525"/>
            <a:ext cx="108108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Leadership focus: close the intake gap while protecting completion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Referral </a:t>
            </a: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volume </a:t>
            </a: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by month </a:t>
            </a: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territory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8283" y="1708156"/>
            <a:ext cx="7785483" cy="43370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1714500"/>
            <a:ext cx="2714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1875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Monthly target</a:t>
            </a:r>
            <a:endParaRPr sz="1875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2209800"/>
            <a:ext cx="2809875" cy="1009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Referrals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generally rise,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but most months remain below target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3333750"/>
            <a:ext cx="28098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North has the highest total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exceeds its territory target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4533900"/>
            <a:ext cx="280987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lang="en-US" sz="187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Territory gaps</a:t>
            </a:r>
            <a:endParaRPr sz="1875" b="1">
              <a:solidFill>
                <a:srgbClr val="CE88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8743950" y="5010150"/>
            <a:ext cx="2809875" cy="1162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Other territory bars fall below target</a:t>
            </a:r>
            <a:r>
              <a:rPr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Exact gaps require the underlying values</a:t>
            </a:r>
            <a:r>
              <a:rPr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Completed referrals represent 71.5% of total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4" name="Chart" descr="Chart"/>
          <p:cNvGraphicFramePr/>
          <p:nvPr>
            <p:extLst>
              <p:ext uri="{D42A27DB-BD31-4B8C-83A1-F6EECF244321}">
                <p14:modId xmlns:p14="http://schemas.microsoft.com/office/powerpoint/2010/main" val="2607693158"/>
              </p:ext>
            </p:extLst>
          </p:nvPr>
        </p:nvGraphicFramePr>
        <p:xfrm>
          <a:off x="552450" y="1714500"/>
          <a:ext cx="53340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429375" y="1752600"/>
            <a:ext cx="5029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8065"/>
                </a:solidFill>
                <a:latin typeface="Arial"/>
                <a:ea typeface="Arial"/>
                <a:cs typeface="Arial"/>
              </a:rPr>
              <a:t>4,292 completed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429375" y="2343150"/>
            <a:ext cx="50292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1,708 in all other statuses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429375" y="3181350"/>
            <a:ext cx="502920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Completed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is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the largest pipeline category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Closed is the next largest status in the dashboard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29375" y="464820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1950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Other pipeline stages</a:t>
            </a:r>
            <a:endParaRPr sz="1950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4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29375" y="5162550"/>
            <a:ext cx="5048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Ready to Schedule, </a:t>
            </a:r>
            <a:r>
              <a:rPr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In Review, </a:t>
            </a:r>
            <a:r>
              <a:rPr lang="en-US"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Received and Scheduled. The 71.5% figure is a snapshot share</a:t>
            </a:r>
            <a:r>
              <a:rPr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not a cohort conversion rate</a:t>
            </a:r>
            <a:r>
              <a:rPr sz="17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5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458 follow-ups are overdue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5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5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333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600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458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5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33051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overdue follow-ups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5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3609975"/>
            <a:ext cx="323850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570 open</a:t>
            </a:r>
          </a:p>
          <a:p>
            <a:pPr>
              <a:defRPr sz="22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4,910 completed</a:t>
            </a:r>
          </a:p>
          <a:p>
            <a:pPr>
              <a:defRPr sz="22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5,480 total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5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5295900"/>
            <a:ext cx="3190875" cy="914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Proposed action</a:t>
            </a:r>
          </a:p>
          <a:p>
            <a:pPr>
              <a:defRPr sz="1725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Assign an owner and next step to each overdue task.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29686" y="1800597"/>
            <a:ext cx="7675928" cy="43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7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Follow-up workload </a:t>
            </a: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monthly change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7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06</a:t>
            </a:r>
            <a:endParaRPr sz="1050" b="0">
              <a:solidFill>
                <a:srgbClr val="61757C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1356302582"/>
              </p:ext>
            </p:extLst>
          </p:nvPr>
        </p:nvGraphicFramePr>
        <p:xfrm>
          <a:off x="609600" y="1619250"/>
          <a:ext cx="10972800" cy="3429000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View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Dashboard signal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Leadership question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Open tasks by territory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South and East have the most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Where does workload need attention?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Monthly follow-ups 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Latest displayed month spikes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Does the spike reflect new demand?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Completed and open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4,910 completed and 570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Which open tasks need follow-through?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Overdue follow-ups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458 overdue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Who owns the next action?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7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025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Workload concentration guides follow-through</a:t>
            </a:r>
            <a:endParaRPr sz="2025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7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Review South </a:t>
            </a:r>
            <a:r>
              <a:rPr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East first for open-task workload</a:t>
            </a:r>
            <a:r>
              <a:rPr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 Confirm </a:t>
            </a:r>
            <a:r>
              <a:rPr lang="en-US"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the latest creation spike </a:t>
            </a:r>
            <a:r>
              <a:rPr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before </a:t>
            </a:r>
            <a:r>
              <a:rPr lang="en-US"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changing staffing or priorities</a:t>
            </a:r>
            <a:r>
              <a:rPr sz="165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6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3,600 activities across 120 engaged accounts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6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07</a:t>
            </a:r>
            <a:endParaRPr sz="1050" b="0">
              <a:solidFill>
                <a:srgbClr val="6175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6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3143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3,600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6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2609850"/>
            <a:ext cx="3095625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activities across</a:t>
            </a:r>
          </a:p>
          <a:p>
            <a:pPr>
              <a:defRPr sz="20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120 accounts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6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638550"/>
            <a:ext cx="31432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6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3171825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activities per account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6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47700" y="5391150"/>
            <a:ext cx="3171825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4 activity types</a:t>
            </a:r>
          </a:p>
          <a:p>
            <a:pPr>
              <a:defRPr sz="1725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North has the highest </a:t>
            </a:r>
            <a:r>
              <a:rPr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activity </a:t>
            </a:r>
            <a:r>
              <a:rPr lang="en-US"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volume</a:t>
            </a:r>
            <a:r>
              <a:rPr sz="1725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3070" y="1808606"/>
            <a:ext cx="7657734" cy="429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8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Activity outcomes </a:t>
            </a: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territory coverage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8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8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958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Recorded outcomes</a:t>
            </a:r>
            <a:endParaRPr sz="2400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8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4953000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Connected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Follow-up required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Left message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Materials delivered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8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914900" cy="1209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Materials delivered has the largest outcome bar. Left message has the smallest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8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1600200"/>
            <a:ext cx="50292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400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Territory activity</a:t>
            </a:r>
            <a:endParaRPr sz="2400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8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2238375"/>
            <a:ext cx="49530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North has the highest volume.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Other </a:t>
            </a: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territories show</a:t>
            </a:r>
          </a:p>
          <a:p>
            <a:pPr>
              <a:defRPr sz="21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1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similar activity totals.</a:t>
            </a:r>
            <a:endParaRPr sz="2100" b="0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8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553200" y="4095750"/>
            <a:ext cx="4933950" cy="1209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Monthly activity fluctuates within a relatively narrow range across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displayed period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8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629275"/>
            <a:ext cx="1097280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lang="en-US"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These outcomes describe outreach activity</a:t>
            </a:r>
            <a:r>
              <a:rPr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They do not </a:t>
            </a:r>
            <a:r>
              <a:rPr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establish </a:t>
            </a:r>
            <a:r>
              <a:rPr lang="en-US"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completed visits or referral conversion</a:t>
            </a:r>
            <a:r>
              <a:rPr sz="180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9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Operational questions covered by the report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9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96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Scope: referral performance, follow-up management </a:t>
            </a: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activity performance</a:t>
            </a: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9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944177349"/>
              </p:ext>
            </p:extLst>
          </p:nvPr>
        </p:nvGraphicFramePr>
        <p:xfrm>
          <a:off x="609600" y="1562100"/>
          <a:ext cx="10972800" cy="4048128"/>
        </p:xfrm>
        <a:graphic>
          <a:graphicData uri="http://schemas.openxmlformats.org/drawingml/2006/table">
            <a:tbl>
              <a:tblPr/>
              <a:tblGrid>
                <a:gridCol w="375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4688"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area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Leadership question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Report view</a:t>
                      </a:r>
                    </a:p>
                  </a:txBody>
                  <a:tcPr>
                    <a:solidFill>
                      <a:srgbClr val="163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Referral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Are volumes meeting target?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Monthly and territory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Referral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What is complete or in progress?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Status mix and completed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Follow-up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What is open or overdue?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Task totals and status mix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Follow-up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Where and when does work build?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Open tasks by territory, creation trend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4688"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Activity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How much outreach and what outcomes?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0">
                          <a:solidFill>
                            <a:srgbClr val="16343D"/>
                          </a:solidFill>
                          <a:latin typeface="Arial"/>
                          <a:ea typeface="Arial"/>
                          <a:cs typeface="Arial"/>
                        </a:rPr>
                        <a:t>Activity, account and outcome 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9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537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lang="en-US" sz="172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Together</a:t>
            </a:r>
            <a:r>
              <a:rPr sz="172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172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these views focus leadership attention on performance gaps and operational follow-through</a:t>
            </a:r>
            <a:r>
              <a:rPr sz="172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A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537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Leadership </a:t>
            </a: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focus across the three areas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A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096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Actions for discussion </a:t>
            </a: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based on the supplied dashboard </a:t>
            </a:r>
            <a:r>
              <a:rPr lang="en-US"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snapshots</a:t>
            </a: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A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4572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61757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175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A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325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Referral performance</a:t>
            </a:r>
            <a:endParaRPr sz="2325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A-0005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46672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504 referrals</a:t>
            </a:r>
          </a:p>
          <a:p>
            <a:pPr>
              <a:defRPr sz="3150" b="1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3150" b="1">
                <a:solidFill>
                  <a:srgbClr val="16343D"/>
                </a:solidFill>
                <a:latin typeface="Arial"/>
                <a:ea typeface="Arial"/>
                <a:cs typeface="Arial"/>
              </a:rPr>
              <a:t>below target</a:t>
            </a:r>
            <a:endParaRPr sz="3150" b="1">
              <a:solidFill>
                <a:srgbClr val="16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A-0006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19475"/>
            <a:ext cx="466725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Review monthly and territory gaps alongside </a:t>
            </a:r>
            <a:r>
              <a:rPr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4,292 completed referrals </a:t>
            </a:r>
            <a:r>
              <a:rPr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remaining pipeline</a:t>
            </a:r>
            <a:r>
              <a:rPr sz="202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A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08635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lang="en-US" sz="1875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Leadership response</a:t>
            </a:r>
            <a:endParaRPr sz="1875" b="1">
              <a:solidFill>
                <a:srgbClr val="CE88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A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5562600"/>
            <a:ext cx="46672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Focus intervention on territories or workflow stages that need attention</a:t>
            </a:r>
            <a:r>
              <a:rPr sz="1800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A-0009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161925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175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Follow-up management</a:t>
            </a:r>
            <a:endParaRPr sz="2175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A-000A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2200275"/>
            <a:ext cx="5048250" cy="1247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570 open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458 overdue follow-ups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Review workload in South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East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Assign owners and next actions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A-000B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396240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48B9C"/>
                </a:solidFill>
                <a:latin typeface="Arial"/>
                <a:ea typeface="Arial"/>
                <a:cs typeface="Arial"/>
              </a:defRPr>
            </a:pPr>
            <a:r>
              <a:rPr lang="en-US" sz="2175" b="1">
                <a:solidFill>
                  <a:srgbClr val="148B9C"/>
                </a:solidFill>
                <a:latin typeface="Arial"/>
                <a:ea typeface="Arial"/>
                <a:cs typeface="Arial"/>
              </a:rPr>
              <a:t>Activity performance</a:t>
            </a:r>
            <a:endParaRPr sz="2175" b="1">
              <a:solidFill>
                <a:srgbClr val="148B9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0000A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4514850"/>
            <a:ext cx="5048250" cy="1123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43D"/>
                </a:solidFill>
                <a:latin typeface="Arial"/>
                <a:ea typeface="Arial"/>
                <a:cs typeface="Arial"/>
              </a:defRPr>
            </a:pP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3,600 activities engage 120 accounts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Review recorded outcomes 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territory coverage to guide outreach</a:t>
            </a:r>
            <a:r>
              <a:rPr sz="1875" b="0">
                <a:solidFill>
                  <a:srgbClr val="16343D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A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419850" y="5810250"/>
            <a:ext cx="50482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CE8800"/>
                </a:solidFill>
                <a:latin typeface="Arial"/>
                <a:ea typeface="Arial"/>
                <a:cs typeface="Arial"/>
              </a:defRPr>
            </a:pPr>
            <a:r>
              <a:rPr lang="en-US" sz="165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Use a consistent reporting period and filter scope across all three views</a:t>
            </a:r>
            <a:r>
              <a:rPr sz="1650" b="1">
                <a:solidFill>
                  <a:srgbClr val="CE88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595</Words>
  <Application>Microsoft Office PowerPoint</Application>
  <PresentationFormat>Widescreen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Lisa A Phillips</dc:creator>
  <cp:lastModifiedBy>Lisa A Phillips</cp:lastModifiedBy>
  <cp:revision>1</cp:revision>
  <dcterms:created xsi:type="dcterms:W3CDTF">2026-10-06T02:50:18Z</dcterms:created>
  <dcterms:modified xsi:type="dcterms:W3CDTF">2026-10-06T03:07:38Z</dcterms:modified>
</cp:coreProperties>
</file>